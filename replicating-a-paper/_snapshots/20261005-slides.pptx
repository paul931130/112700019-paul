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2"/>
  </p:notesMasterIdLst>
  <p:sldIdLst>
    <p:sldId id="256" r:id="rId6"/>
    <p:sldId id="257" r:id="rId7"/>
  </p:sldIdLst>
  <p:sldSz cx="9753600" cy="7315200"/>
  <p:notesSz cx="6858000" cy="9144000"/>
  <p:embeddedFontLst>
    <p:embeddedFont>
      <p:font typeface="Arimo" charset="1" panose="020B0604020202020204"/>
      <p:regular r:id="rId15"/>
    </p:embeddedFont>
    <p:embeddedFont>
      <p:font typeface="Noto Sans T Chinese" charset="1" panose="020B05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3" Type="http://schemas.openxmlformats.org/officeDocument/2006/relationships/theme" Target="theme/theme2.xml"/><Relationship Id="rId14" Type="http://schemas.openxmlformats.org/officeDocument/2006/relationships/notesSlide" Target="notesSlides/notesSlide1.xml"/><Relationship Id="rId15" Type="http://schemas.openxmlformats.org/officeDocument/2006/relationships/font" Target="fonts/font15.fntdata"/><Relationship Id="rId16" Type="http://schemas.openxmlformats.org/officeDocument/2006/relationships/font" Target="fonts/font16.fntdata"/><Relationship Id="rId17" Type="http://schemas.openxmlformats.org/officeDocument/2006/relationships/notesSlide" Target="notesSlides/notesSlide2.xml"/><Relationship Id="rId18" Type="http://schemas.openxmlformats.org/officeDocument/2006/relationships/notesSlide" Target="notesSlides/notesSlide3.xml"/><Relationship Id="rId19" Type="http://schemas.openxmlformats.org/officeDocument/2006/relationships/notesSlide" Target="notesSlides/notesSlide4.xml"/><Relationship Id="rId20" Type="http://schemas.openxmlformats.org/officeDocument/2006/relationships/notesSlide" Target="notesSlides/notesSlide5.xml"/><Relationship Id="rId21" Type="http://schemas.openxmlformats.org/officeDocument/2006/relationships/notesSlide" Target="notesSlides/notes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真正的波動度其實是一個不可觀測的潛在變數，為了更精確地衡量實際市場波動，Andersen &amp; Bollerslev提出了 Realized Volatility 的概念</a:t>
            </a:r>
          </a:p>
          <a:p>
            <a:r>
              <a:rPr lang="en-US"/>
              <a:t>一段期間內的「真實波動度」可以表示為瞬時波動度的積分，稱之為Integrated Volatility</a:t>
            </a:r>
          </a:p>
          <a:p>
            <a:r>
              <a:rPr lang="en-US"/>
              <a:t>利用quadratic variation 理論來估計實際波動度。根據 quadratic variation 的性質，如果價格資料的取樣頻率足夠高，則高頻報酬率平方的加總會收斂到真實的 integrated volatility，用於近似真實波動度。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真正的波動度其實是一個不可觀測的潛在變數，為了更精確地衡量實際市場波動，Andersen &amp; Bollerslev提出了 Realized Volatility 的概念</a:t>
            </a:r>
          </a:p>
          <a:p>
            <a:r>
              <a:rPr lang="en-US"/>
              <a:t>一段期間內的「真實波動度」可以表示為瞬時波動度的積分，稱之為Integrated Volatility</a:t>
            </a:r>
          </a:p>
          <a:p>
            <a:r>
              <a:rPr lang="en-US"/>
              <a:t>利用quadratic variation 理論來估計實際波動度。根據 quadratic variation 的性質，如果價格資料的取樣頻率足夠高，則高頻報酬率平方的加總會收斂到真實的 integrated volatility，用於近似真實波動度。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4.png"/><Relationship Id="rId11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3268" y="317322"/>
            <a:ext cx="1723895" cy="1670716"/>
          </a:xfrm>
          <a:custGeom>
            <a:avLst/>
            <a:gdLst/>
            <a:ahLst/>
            <a:cxnLst/>
            <a:rect r="r" b="b" t="t" l="l"/>
            <a:pathLst>
              <a:path h="1670716" w="1723895">
                <a:moveTo>
                  <a:pt x="0" y="0"/>
                </a:moveTo>
                <a:lnTo>
                  <a:pt x="1723895" y="0"/>
                </a:lnTo>
                <a:lnTo>
                  <a:pt x="1723895" y="1670715"/>
                </a:lnTo>
                <a:lnTo>
                  <a:pt x="0" y="16707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87665" y="2212105"/>
            <a:ext cx="9178271" cy="1400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 marL="0" indent="0" lvl="0">
              <a:lnSpc>
                <a:spcPts val="5266"/>
              </a:lnSpc>
              <a:spcBef>
                <a:spcPct val="0"/>
              </a:spcBef>
            </a:pPr>
            <a:r>
              <a:rPr lang="en-US" sz="3600" strike="noStrike" u="none">
                <a:solidFill>
                  <a:srgbClr val="D30F11"/>
                </a:solidFill>
                <a:latin typeface="Arimo"/>
                <a:ea typeface="Arimo"/>
                <a:cs typeface="Arimo"/>
                <a:sym typeface="Arimo"/>
              </a:rPr>
              <a:t>Replicating the paper: Temporal Relational Ranking for Stock Prediction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87665" y="3900000"/>
            <a:ext cx="700000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606B7E"/>
                </a:solidFill>
                <a:latin typeface="Arimo"/>
                <a:ea typeface="Arimo"/>
                <a:cs typeface="Arimo"/>
                <a:sym typeface="Arimo"/>
              </a:rPr>
              <a:t>112700019 Paul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87665" y="5040630"/>
            <a:ext cx="10988040" cy="849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1"/>
              </a:lnSpc>
            </a:pPr>
            <a:r>
              <a:rPr lang="en-US" sz="1700">
                <a:solidFill>
                  <a:srgbClr val="606B7E"/>
                </a:solidFill>
                <a:latin typeface="Arimo"/>
                <a:ea typeface="Arimo"/>
                <a:cs typeface="Arimo"/>
                <a:sym typeface="Arimo"/>
              </a:rPr>
              <a:t>Department of Information Management and Finance, National Yang Ming Chao Tung University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053646" y="33798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Connector 18"/>
          <p:cNvCxnSpPr/>
          <p:nvPr/>
        </p:nvCxnSpPr>
        <p:spPr>
          <a:xfrm>
            <a:off x="4800000" y="4950000"/>
            <a:ext cx="3000000" cy="200000"/>
          </a:xfrm>
          <a:prstGeom prst="line">
            <a:avLst/>
          </a:prstGeom>
          <a:ln w="25400">
            <a:solidFill>
              <a:srgbClr val="7FB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300000" y="5150000"/>
            <a:ext cx="1500000" cy="950000"/>
          </a:xfrm>
          <a:prstGeom prst="line">
            <a:avLst/>
          </a:prstGeom>
          <a:ln w="25400">
            <a:solidFill>
              <a:srgbClr val="7FB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800000" y="4950000"/>
            <a:ext cx="1500000" cy="1150000"/>
          </a:xfrm>
          <a:prstGeom prst="line">
            <a:avLst/>
          </a:prstGeom>
          <a:ln w="25400">
            <a:solidFill>
              <a:srgbClr val="7FB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300000" y="4950000"/>
            <a:ext cx="1500000" cy="1200000"/>
          </a:xfrm>
          <a:prstGeom prst="line">
            <a:avLst/>
          </a:prstGeom>
          <a:ln w="25400">
            <a:solidFill>
              <a:srgbClr val="D110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800000" y="4950000"/>
            <a:ext cx="3000000" cy="50000"/>
          </a:xfrm>
          <a:prstGeom prst="line">
            <a:avLst/>
          </a:prstGeom>
          <a:ln w="25400">
            <a:solidFill>
              <a:srgbClr val="D110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800000" y="5000000"/>
            <a:ext cx="1500000" cy="1150000"/>
          </a:xfrm>
          <a:prstGeom prst="line">
            <a:avLst/>
          </a:prstGeom>
          <a:ln w="25400">
            <a:solidFill>
              <a:srgbClr val="D110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62108" y="459248"/>
            <a:ext cx="8626878" cy="19060"/>
            <a:chOff x="0" y="0"/>
            <a:chExt cx="11502504" cy="2541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2700" y="0"/>
              <a:ext cx="11477117" cy="25400"/>
            </a:xfrm>
            <a:custGeom>
              <a:avLst/>
              <a:gdLst/>
              <a:ahLst/>
              <a:cxnLst/>
              <a:rect r="r" b="b" t="t" l="l"/>
              <a:pathLst>
                <a:path h="25400" w="11477117">
                  <a:moveTo>
                    <a:pt x="0" y="0"/>
                  </a:moveTo>
                  <a:lnTo>
                    <a:pt x="11477117" y="0"/>
                  </a:lnTo>
                  <a:lnTo>
                    <a:pt x="11477117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5A5F5E">
                <a:alpha val="2353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6274" y="6861610"/>
            <a:ext cx="7928600" cy="19060"/>
            <a:chOff x="0" y="0"/>
            <a:chExt cx="10571467" cy="254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0"/>
              <a:ext cx="10546080" cy="25400"/>
            </a:xfrm>
            <a:custGeom>
              <a:avLst/>
              <a:gdLst/>
              <a:ahLst/>
              <a:cxnLst/>
              <a:rect r="r" b="b" t="t" l="l"/>
              <a:pathLst>
                <a:path h="25400" w="10546080">
                  <a:moveTo>
                    <a:pt x="0" y="0"/>
                  </a:moveTo>
                  <a:lnTo>
                    <a:pt x="10546080" y="0"/>
                  </a:lnTo>
                  <a:lnTo>
                    <a:pt x="1054608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5A5F5E">
                <a:alpha val="2353"/>
              </a:srgbClr>
            </a:solidFill>
          </p:spPr>
        </p:sp>
      </p:grpSp>
      <p:sp>
        <p:nvSpPr>
          <p:cNvPr name="Bullets" id="9"/>
          <p:cNvSpPr txBox="true"/>
          <p:nvPr/>
        </p:nvSpPr>
        <p:spPr>
          <a:xfrm rot="0">
            <a:off x="617677" y="1250000"/>
            <a:ext cx="8600000" cy="28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03696" indent="-50924" lvl="3">
              <a:lnSpc>
                <a:spcPts val="3375"/>
              </a:lnSpc>
              <a:buFont typeface="Arial"/>
              <a:buChar char="￭"/>
            </a:pPr>
            <a:r>
              <a:rPr lang="en-US" sz="1800">
                <a:solidFill>
                  <a:srgbClr val="606B7E"/>
                </a:solidFill>
                <a:latin typeface="Arimo"/>
                <a:ea typeface="Arimo"/>
                <a:cs typeface="Arimo"/>
                <a:sym typeface="Arimo"/>
              </a:rPr>
              <a:t>Stock-return models often treat stocks as independent time series, ignoring industry and other relations</a:t>
            </a:r>
          </a:p>
          <a:p>
            <a:pPr algn="l" marL="203696" indent="-50924" lvl="3">
              <a:lnSpc>
                <a:spcPts val="3375"/>
              </a:lnSpc>
              <a:buFont typeface="Arial"/>
              <a:buChar char="￭"/>
            </a:pPr>
            <a:r>
              <a:rPr lang="en-US" sz="1800">
                <a:solidFill>
                  <a:srgbClr val="606B7E"/>
                </a:solidFill>
                <a:latin typeface="Arimo"/>
                <a:ea typeface="Arimo"/>
                <a:cs typeface="Arimo"/>
                <a:sym typeface="Arimo"/>
              </a:rPr>
              <a:t>Feng et al. (2019) propose RSR: Temporal Graph Convolution encodes relations between stocks</a:t>
            </a:r>
          </a:p>
          <a:p>
            <a:pPr algn="l" marL="203696" indent="-50924" lvl="3">
              <a:lnSpc>
                <a:spcPts val="3375"/>
              </a:lnSpc>
              <a:buFont typeface="Arial"/>
              <a:buChar char="￭"/>
            </a:pPr>
            <a:r>
              <a:rPr lang="en-US" sz="1800">
                <a:solidFill>
                  <a:srgbClr val="606B7E"/>
                </a:solidFill>
                <a:latin typeface="Arimo"/>
                <a:ea typeface="Arimo"/>
                <a:cs typeface="Arimo"/>
                <a:sym typeface="Arimo"/>
              </a:rPr>
              <a:t>This project replicates RSR vs. a no-relation baseline: does relation information improve next-day return ranking?</a:t>
            </a:r>
          </a:p>
          <a:p>
            <a:pPr algn="l" marL="203696" indent="-50924" lvl="3">
              <a:lnSpc>
                <a:spcPts val="3375"/>
              </a:lnSpc>
              <a:buFont typeface="Arial"/>
              <a:buChar char="￭"/>
            </a:pPr>
            <a:r>
              <a:rPr lang="en-US" sz="1800">
                <a:solidFill>
                  <a:srgbClr val="606B7E"/>
                </a:solidFill>
                <a:latin typeface="Arimo"/>
                <a:ea typeface="Arimo"/>
                <a:cs typeface="Arimo"/>
                <a:sym typeface="Arimo"/>
              </a:rPr>
              <a:t>Why me: my multi-agent trading system lacks any cross-stock relation signal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8824629" y="6491631"/>
            <a:ext cx="739957" cy="739957"/>
          </a:xfrm>
          <a:custGeom>
            <a:avLst/>
            <a:gdLst/>
            <a:ahLst/>
            <a:cxnLst/>
            <a:rect r="r" b="b" t="t" l="l"/>
            <a:pathLst>
              <a:path h="739957" w="739957">
                <a:moveTo>
                  <a:pt x="0" y="0"/>
                </a:moveTo>
                <a:lnTo>
                  <a:pt x="739957" y="0"/>
                </a:lnTo>
                <a:lnTo>
                  <a:pt x="739957" y="739958"/>
                </a:lnTo>
                <a:lnTo>
                  <a:pt x="0" y="739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17677" y="87773"/>
            <a:ext cx="292224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06B7E"/>
                </a:solidFill>
                <a:latin typeface="Arimo"/>
                <a:ea typeface="Arimo"/>
                <a:cs typeface="Arimo"/>
                <a:sym typeface="Arimo"/>
              </a:rPr>
              <a:t>R1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28126" y="573557"/>
            <a:ext cx="7702302" cy="477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3200">
                <a:solidFill>
                  <a:srgbClr val="D30F11"/>
                </a:solidFill>
                <a:latin typeface="Arimo"/>
                <a:ea typeface="Arimo"/>
                <a:cs typeface="Arimo"/>
                <a:sym typeface="Arimo"/>
              </a:rPr>
              <a:t>Motivation and Why this topic interests you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91711" y="6947344"/>
            <a:ext cx="851297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06B7E"/>
                </a:solidFill>
                <a:latin typeface="Arimo"/>
                <a:ea typeface="Arimo"/>
                <a:cs typeface="Arimo"/>
                <a:sym typeface="Arimo"/>
              </a:rPr>
              <a:t>RSR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053646" y="33798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2</a:t>
            </a:r>
          </a:p>
        </p:txBody>
      </p:sp>
      <p:sp>
        <p:nvSpPr>
          <p:cNvPr id="20" name="Oval 19"/>
          <p:cNvSpPr/>
          <p:nvPr/>
        </p:nvSpPr>
        <p:spPr>
          <a:xfrm>
            <a:off x="1490000" y="4690000"/>
            <a:ext cx="620000" cy="620000"/>
          </a:xfrm>
          <a:prstGeom prst="ellipse">
            <a:avLst/>
          </a:prstGeom>
          <a:solidFill>
            <a:srgbClr val="D1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>
                <a:solidFill>
                  <a:srgbClr val="FFFFFF"/>
                </a:solidFill>
              </a:rPr>
              <a:t>AAPL</a:t>
            </a:r>
          </a:p>
        </p:txBody>
      </p:sp>
      <p:sp>
        <p:nvSpPr>
          <p:cNvPr id="21" name="Oval 20"/>
          <p:cNvSpPr/>
          <p:nvPr/>
        </p:nvSpPr>
        <p:spPr>
          <a:xfrm>
            <a:off x="2990000" y="5840000"/>
            <a:ext cx="620000" cy="620000"/>
          </a:xfrm>
          <a:prstGeom prst="ellipse">
            <a:avLst/>
          </a:prstGeom>
          <a:solidFill>
            <a:srgbClr val="D1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>
                <a:solidFill>
                  <a:srgbClr val="FFFFFF"/>
                </a:solidFill>
              </a:rPr>
              <a:t>MSFT</a:t>
            </a:r>
          </a:p>
        </p:txBody>
      </p:sp>
      <p:sp>
        <p:nvSpPr>
          <p:cNvPr id="22" name="Oval 21"/>
          <p:cNvSpPr/>
          <p:nvPr/>
        </p:nvSpPr>
        <p:spPr>
          <a:xfrm>
            <a:off x="4490000" y="4640000"/>
            <a:ext cx="620000" cy="620000"/>
          </a:xfrm>
          <a:prstGeom prst="ellipse">
            <a:avLst/>
          </a:prstGeom>
          <a:solidFill>
            <a:srgbClr val="D1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>
                <a:solidFill>
                  <a:srgbClr val="FFFFFF"/>
                </a:solidFill>
              </a:rPr>
              <a:t>NVDA</a:t>
            </a:r>
          </a:p>
        </p:txBody>
      </p:sp>
      <p:sp>
        <p:nvSpPr>
          <p:cNvPr id="23" name="Oval 22"/>
          <p:cNvSpPr/>
          <p:nvPr/>
        </p:nvSpPr>
        <p:spPr>
          <a:xfrm>
            <a:off x="5990000" y="5790000"/>
            <a:ext cx="620000" cy="620000"/>
          </a:xfrm>
          <a:prstGeom prst="ellipse">
            <a:avLst/>
          </a:prstGeom>
          <a:solidFill>
            <a:srgbClr val="7FB5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>
                <a:solidFill>
                  <a:srgbClr val="FFFFFF"/>
                </a:solidFill>
              </a:rPr>
              <a:t>JPM</a:t>
            </a:r>
          </a:p>
        </p:txBody>
      </p:sp>
      <p:sp>
        <p:nvSpPr>
          <p:cNvPr id="24" name="Oval 23"/>
          <p:cNvSpPr/>
          <p:nvPr/>
        </p:nvSpPr>
        <p:spPr>
          <a:xfrm>
            <a:off x="7490000" y="4840000"/>
            <a:ext cx="620000" cy="620000"/>
          </a:xfrm>
          <a:prstGeom prst="ellipse">
            <a:avLst/>
          </a:prstGeom>
          <a:solidFill>
            <a:srgbClr val="7FB5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>
                <a:solidFill>
                  <a:srgbClr val="FFFFFF"/>
                </a:solidFill>
              </a:rPr>
              <a:t>BAC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677" y="6420000"/>
            <a:ext cx="7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F6B7C"/>
                </a:solidFill>
              </a:rPr>
              <a:t>Stocks linked by industry relations (RSR relation graph)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62108" y="459248"/>
            <a:ext cx="8626878" cy="19060"/>
            <a:chOff x="0" y="0"/>
            <a:chExt cx="11502504" cy="2541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2700" y="0"/>
              <a:ext cx="11477117" cy="25400"/>
            </a:xfrm>
            <a:custGeom>
              <a:avLst/>
              <a:gdLst/>
              <a:ahLst/>
              <a:cxnLst/>
              <a:rect r="r" b="b" t="t" l="l"/>
              <a:pathLst>
                <a:path h="25400" w="11477117">
                  <a:moveTo>
                    <a:pt x="0" y="0"/>
                  </a:moveTo>
                  <a:lnTo>
                    <a:pt x="11477117" y="0"/>
                  </a:lnTo>
                  <a:lnTo>
                    <a:pt x="11477117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5A5F5E">
                <a:alpha val="2353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6274" y="6861610"/>
            <a:ext cx="7928600" cy="19060"/>
            <a:chOff x="0" y="0"/>
            <a:chExt cx="10571467" cy="254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0"/>
              <a:ext cx="10546080" cy="25400"/>
            </a:xfrm>
            <a:custGeom>
              <a:avLst/>
              <a:gdLst/>
              <a:ahLst/>
              <a:cxnLst/>
              <a:rect r="r" b="b" t="t" l="l"/>
              <a:pathLst>
                <a:path h="25400" w="10546080">
                  <a:moveTo>
                    <a:pt x="0" y="0"/>
                  </a:moveTo>
                  <a:lnTo>
                    <a:pt x="10546080" y="0"/>
                  </a:lnTo>
                  <a:lnTo>
                    <a:pt x="1054608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5A5F5E">
                <a:alpha val="2353"/>
              </a:srgbClr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617677" y="1156487"/>
            <a:ext cx="8946909" cy="419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03696" indent="-67899" lvl="2">
              <a:lnSpc>
                <a:spcPts val="3375"/>
              </a:lnSpc>
              <a:buFont typeface="Arial"/>
              <a:buChar char="⚬"/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8824629" y="6491631"/>
            <a:ext cx="739957" cy="739957"/>
          </a:xfrm>
          <a:custGeom>
            <a:avLst/>
            <a:gdLst/>
            <a:ahLst/>
            <a:cxnLst/>
            <a:rect r="r" b="b" t="t" l="l"/>
            <a:pathLst>
              <a:path h="739957" w="739957">
                <a:moveTo>
                  <a:pt x="0" y="0"/>
                </a:moveTo>
                <a:lnTo>
                  <a:pt x="739957" y="0"/>
                </a:lnTo>
                <a:lnTo>
                  <a:pt x="739957" y="739958"/>
                </a:lnTo>
                <a:lnTo>
                  <a:pt x="0" y="739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17677" y="87773"/>
            <a:ext cx="292224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06B7E"/>
                </a:solidFill>
                <a:latin typeface="Arimo"/>
                <a:ea typeface="Arimo"/>
                <a:cs typeface="Arimo"/>
                <a:sym typeface="Arimo"/>
              </a:rPr>
              <a:t>R2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28126" y="573557"/>
            <a:ext cx="858441" cy="477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3200">
                <a:solidFill>
                  <a:srgbClr val="D30F11"/>
                </a:solidFill>
                <a:latin typeface="Arimo"/>
                <a:ea typeface="Arimo"/>
                <a:cs typeface="Arimo"/>
                <a:sym typeface="Arimo"/>
              </a:rPr>
              <a:t>Data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91711" y="6947344"/>
            <a:ext cx="851297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06B7E"/>
                </a:solidFill>
                <a:latin typeface="Arimo"/>
                <a:ea typeface="Arimo"/>
                <a:cs typeface="Arimo"/>
                <a:sym typeface="Arimo"/>
              </a:rPr>
              <a:t>Volatility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053646" y="33798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3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62108" y="459248"/>
            <a:ext cx="8626878" cy="19060"/>
            <a:chOff x="0" y="0"/>
            <a:chExt cx="11502504" cy="2541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2700" y="0"/>
              <a:ext cx="11477117" cy="25400"/>
            </a:xfrm>
            <a:custGeom>
              <a:avLst/>
              <a:gdLst/>
              <a:ahLst/>
              <a:cxnLst/>
              <a:rect r="r" b="b" t="t" l="l"/>
              <a:pathLst>
                <a:path h="25400" w="11477117">
                  <a:moveTo>
                    <a:pt x="0" y="0"/>
                  </a:moveTo>
                  <a:lnTo>
                    <a:pt x="11477117" y="0"/>
                  </a:lnTo>
                  <a:lnTo>
                    <a:pt x="11477117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5A5F5E">
                <a:alpha val="2353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6274" y="6861610"/>
            <a:ext cx="7928600" cy="19060"/>
            <a:chOff x="0" y="0"/>
            <a:chExt cx="10571467" cy="254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0"/>
              <a:ext cx="10546080" cy="25400"/>
            </a:xfrm>
            <a:custGeom>
              <a:avLst/>
              <a:gdLst/>
              <a:ahLst/>
              <a:cxnLst/>
              <a:rect r="r" b="b" t="t" l="l"/>
              <a:pathLst>
                <a:path h="25400" w="10546080">
                  <a:moveTo>
                    <a:pt x="0" y="0"/>
                  </a:moveTo>
                  <a:lnTo>
                    <a:pt x="10546080" y="0"/>
                  </a:lnTo>
                  <a:lnTo>
                    <a:pt x="1054608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5A5F5E">
                <a:alpha val="2353"/>
              </a:srgbClr>
            </a:solidFill>
          </p:spPr>
        </p:sp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44879" y="3076212"/>
            <a:ext cx="2371126" cy="65518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18811" y="3845961"/>
            <a:ext cx="1623263" cy="500357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75152" y="4534391"/>
            <a:ext cx="1510579" cy="474546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3474" y="4786844"/>
            <a:ext cx="4573938" cy="1387094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22222" y="5712736"/>
            <a:ext cx="4216439" cy="1026191"/>
          </a:xfrm>
          <a:prstGeom prst="rect">
            <a:avLst/>
          </a:prstGeom>
        </p:spPr>
      </p:pic>
      <p:sp>
        <p:nvSpPr>
          <p:cNvPr name="Freeform 12" id="12"/>
          <p:cNvSpPr/>
          <p:nvPr/>
        </p:nvSpPr>
        <p:spPr>
          <a:xfrm flipH="false" flipV="false" rot="0">
            <a:off x="8824629" y="6491631"/>
            <a:ext cx="739957" cy="739957"/>
          </a:xfrm>
          <a:custGeom>
            <a:avLst/>
            <a:gdLst/>
            <a:ahLst/>
            <a:cxnLst/>
            <a:rect r="r" b="b" t="t" l="l"/>
            <a:pathLst>
              <a:path h="739957" w="739957">
                <a:moveTo>
                  <a:pt x="0" y="0"/>
                </a:moveTo>
                <a:lnTo>
                  <a:pt x="739957" y="0"/>
                </a:lnTo>
                <a:lnTo>
                  <a:pt x="739957" y="739958"/>
                </a:lnTo>
                <a:lnTo>
                  <a:pt x="0" y="73995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620594" y="3115647"/>
            <a:ext cx="4943992" cy="3089995"/>
          </a:xfrm>
          <a:custGeom>
            <a:avLst/>
            <a:gdLst/>
            <a:ahLst/>
            <a:cxnLst/>
            <a:rect r="r" b="b" t="t" l="l"/>
            <a:pathLst>
              <a:path h="3089995" w="4943992">
                <a:moveTo>
                  <a:pt x="0" y="0"/>
                </a:moveTo>
                <a:lnTo>
                  <a:pt x="4943992" y="0"/>
                </a:lnTo>
                <a:lnTo>
                  <a:pt x="4943992" y="3089994"/>
                </a:lnTo>
                <a:lnTo>
                  <a:pt x="0" y="308999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17677" y="1156487"/>
            <a:ext cx="8946909" cy="1778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03696" indent="-50924" lvl="3">
              <a:lnSpc>
                <a:spcPts val="3375"/>
              </a:lnSpc>
              <a:buFont typeface="Arial"/>
              <a:buChar char="￭"/>
            </a:pPr>
            <a:r>
              <a:rPr lang="en-US" sz="2250">
                <a:solidFill>
                  <a:srgbClr val="606B7E"/>
                </a:solidFill>
                <a:latin typeface="Arimo"/>
                <a:ea typeface="Arimo"/>
                <a:cs typeface="Arimo"/>
                <a:sym typeface="Arimo"/>
              </a:rPr>
              <a:t>Market indicators encode the current market state and form the query vector </a:t>
            </a:r>
          </a:p>
          <a:p>
            <a:pPr algn="l" marL="203696" indent="-50924" lvl="3">
              <a:lnSpc>
                <a:spcPts val="3375"/>
              </a:lnSpc>
              <a:buFont typeface="Arial"/>
              <a:buChar char="￭"/>
            </a:pPr>
            <a:r>
              <a:rPr lang="en-US" sz="2250">
                <a:solidFill>
                  <a:srgbClr val="606B7E"/>
                </a:solidFill>
                <a:latin typeface="Arimo"/>
                <a:ea typeface="Arimo"/>
                <a:cs typeface="Arimo"/>
                <a:sym typeface="Arimo"/>
              </a:rPr>
              <a:t>News embeddings are projected to keys and values </a:t>
            </a:r>
          </a:p>
          <a:p>
            <a:pPr algn="l" marL="203696" indent="-50924" lvl="3">
              <a:lnSpc>
                <a:spcPts val="3375"/>
              </a:lnSpc>
              <a:buFont typeface="Arial"/>
              <a:buChar char="￭"/>
            </a:pPr>
            <a:r>
              <a:rPr lang="en-US" sz="2250">
                <a:solidFill>
                  <a:srgbClr val="606B7E"/>
                </a:solidFill>
                <a:latin typeface="Arimo"/>
                <a:ea typeface="Arimo"/>
                <a:cs typeface="Arimo"/>
                <a:sym typeface="Arimo"/>
              </a:rPr>
              <a:t>The weighted news representation  is added to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17677" y="87773"/>
            <a:ext cx="292224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06B7E"/>
                </a:solidFill>
                <a:latin typeface="Arimo"/>
                <a:ea typeface="Arimo"/>
                <a:cs typeface="Arimo"/>
                <a:sym typeface="Arimo"/>
              </a:rPr>
              <a:t>R3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28126" y="573557"/>
            <a:ext cx="7274049" cy="477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3200">
                <a:solidFill>
                  <a:srgbClr val="D30F11"/>
                </a:solidFill>
                <a:latin typeface="Arimo"/>
                <a:ea typeface="Arimo"/>
                <a:cs typeface="Arimo"/>
                <a:sym typeface="Arimo"/>
              </a:rPr>
              <a:t>Benchmark and the experimental design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91711" y="6947344"/>
            <a:ext cx="851297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06B7E"/>
                </a:solidFill>
                <a:latin typeface="Arimo"/>
                <a:ea typeface="Arimo"/>
                <a:cs typeface="Arimo"/>
                <a:sym typeface="Arimo"/>
              </a:rPr>
              <a:t>Volatility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053646" y="33798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4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3" id="3"/>
          <p:cNvGrpSpPr/>
          <p:nvPr/>
        </p:nvGrpSpPr>
        <p:grpSpPr>
          <a:xfrm rot="0">
            <a:off x="562108" y="459248"/>
            <a:ext cx="8626878" cy="19060"/>
            <a:chOff x="0" y="0"/>
            <a:chExt cx="11502504" cy="2541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2700" y="0"/>
              <a:ext cx="11477117" cy="25400"/>
            </a:xfrm>
            <a:custGeom>
              <a:avLst/>
              <a:gdLst/>
              <a:ahLst/>
              <a:cxnLst/>
              <a:rect r="r" b="b" t="t" l="l"/>
              <a:pathLst>
                <a:path h="25400" w="11477117">
                  <a:moveTo>
                    <a:pt x="0" y="0"/>
                  </a:moveTo>
                  <a:lnTo>
                    <a:pt x="11477117" y="0"/>
                  </a:lnTo>
                  <a:lnTo>
                    <a:pt x="11477117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5A5F5E">
                <a:alpha val="2353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6274" y="6861610"/>
            <a:ext cx="7928600" cy="19060"/>
            <a:chOff x="0" y="0"/>
            <a:chExt cx="10571467" cy="254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0"/>
              <a:ext cx="10546080" cy="25400"/>
            </a:xfrm>
            <a:custGeom>
              <a:avLst/>
              <a:gdLst/>
              <a:ahLst/>
              <a:cxnLst/>
              <a:rect r="r" b="b" t="t" l="l"/>
              <a:pathLst>
                <a:path h="25400" w="10546080">
                  <a:moveTo>
                    <a:pt x="0" y="0"/>
                  </a:moveTo>
                  <a:lnTo>
                    <a:pt x="10546080" y="0"/>
                  </a:lnTo>
                  <a:lnTo>
                    <a:pt x="1054608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5A5F5E">
                <a:alpha val="2353"/>
              </a:srgbClr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58174" y="3869375"/>
            <a:ext cx="4710291" cy="2714305"/>
          </a:xfrm>
          <a:custGeom>
            <a:avLst/>
            <a:gdLst/>
            <a:ahLst/>
            <a:cxnLst/>
            <a:rect r="r" b="b" t="t" l="l"/>
            <a:pathLst>
              <a:path h="2714305" w="4710291">
                <a:moveTo>
                  <a:pt x="0" y="0"/>
                </a:moveTo>
                <a:lnTo>
                  <a:pt x="4710292" y="0"/>
                </a:lnTo>
                <a:lnTo>
                  <a:pt x="4710292" y="2714305"/>
                </a:lnTo>
                <a:lnTo>
                  <a:pt x="0" y="27143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4876800" y="3869375"/>
            <a:ext cx="4710291" cy="2714305"/>
          </a:xfrm>
          <a:custGeom>
            <a:avLst/>
            <a:gdLst/>
            <a:ahLst/>
            <a:cxnLst/>
            <a:rect r="r" b="b" t="t" l="l"/>
            <a:pathLst>
              <a:path h="2714305" w="4710291">
                <a:moveTo>
                  <a:pt x="0" y="0"/>
                </a:moveTo>
                <a:lnTo>
                  <a:pt x="4710291" y="0"/>
                </a:lnTo>
                <a:lnTo>
                  <a:pt x="4710291" y="2714305"/>
                </a:lnTo>
                <a:lnTo>
                  <a:pt x="0" y="27143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9" id="9"/>
          <p:cNvSpPr txBox="true"/>
          <p:nvPr/>
        </p:nvSpPr>
        <p:spPr>
          <a:xfrm rot="0">
            <a:off x="617677" y="1156487"/>
            <a:ext cx="8946909" cy="2615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03696" indent="-50924" lvl="3">
              <a:lnSpc>
                <a:spcPts val="3375"/>
              </a:lnSpc>
              <a:buFont typeface="Arial"/>
              <a:buChar char="￭"/>
            </a:pPr>
            <a:r>
              <a:rPr lang="en-US" sz="2250">
                <a:solidFill>
                  <a:srgbClr val="606B7E"/>
                </a:solidFill>
                <a:latin typeface="Arimo"/>
                <a:ea typeface="Arimo"/>
                <a:cs typeface="Arimo"/>
                <a:sym typeface="Arimo"/>
              </a:rPr>
              <a:t>Numerical market features provide the strongest signals for RV forecasting</a:t>
            </a:r>
          </a:p>
          <a:p>
            <a:pPr algn="l" marL="203696" indent="-50924" lvl="3">
              <a:lnSpc>
                <a:spcPts val="3375"/>
              </a:lnSpc>
              <a:buFont typeface="Arial"/>
              <a:buChar char="￭"/>
            </a:pPr>
            <a:r>
              <a:rPr lang="en-US" sz="2250">
                <a:solidFill>
                  <a:srgbClr val="606B7E"/>
                </a:solidFill>
                <a:latin typeface="Arimo"/>
                <a:ea typeface="Arimo"/>
                <a:cs typeface="Arimo"/>
                <a:sym typeface="Arimo"/>
              </a:rPr>
              <a:t>Naively aggregated news embeddings add little value to conventional ML models</a:t>
            </a:r>
          </a:p>
          <a:p>
            <a:pPr algn="l" marL="203696" indent="-50924" lvl="3">
              <a:lnSpc>
                <a:spcPts val="3375"/>
              </a:lnSpc>
              <a:buFont typeface="Arial"/>
              <a:buChar char="￭"/>
            </a:pPr>
            <a:r>
              <a:rPr lang="en-US" sz="2250">
                <a:solidFill>
                  <a:srgbClr val="606B7E"/>
                </a:solidFill>
                <a:latin typeface="Arimo"/>
                <a:ea typeface="Arimo"/>
                <a:cs typeface="Arimo"/>
                <a:sym typeface="Arimo"/>
              </a:rPr>
              <a:t>Cross-attention enables RNNs to extract useful information from news and improve forecasting accuracy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824629" y="6491631"/>
            <a:ext cx="739957" cy="739957"/>
          </a:xfrm>
          <a:custGeom>
            <a:avLst/>
            <a:gdLst/>
            <a:ahLst/>
            <a:cxnLst/>
            <a:rect r="r" b="b" t="t" l="l"/>
            <a:pathLst>
              <a:path h="739957" w="739957">
                <a:moveTo>
                  <a:pt x="0" y="0"/>
                </a:moveTo>
                <a:lnTo>
                  <a:pt x="739957" y="0"/>
                </a:lnTo>
                <a:lnTo>
                  <a:pt x="739957" y="739958"/>
                </a:lnTo>
                <a:lnTo>
                  <a:pt x="0" y="7399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28126" y="87773"/>
            <a:ext cx="292224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06B7E"/>
                </a:solidFill>
                <a:latin typeface="Arimo"/>
                <a:ea typeface="Arimo"/>
                <a:cs typeface="Arimo"/>
                <a:sym typeface="Arimo"/>
              </a:rPr>
              <a:t>R4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28126" y="573557"/>
            <a:ext cx="5804892" cy="915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3200">
                <a:solidFill>
                  <a:srgbClr val="D30F11"/>
                </a:solidFill>
                <a:latin typeface="Arimo"/>
                <a:ea typeface="Arimo"/>
                <a:cs typeface="Arimo"/>
                <a:sym typeface="Arimo"/>
              </a:rPr>
              <a:t>Empirical results and conclusion</a:t>
            </a:r>
          </a:p>
          <a:p>
            <a:pPr algn="l">
              <a:lnSpc>
                <a:spcPts val="3456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391711" y="6947344"/>
            <a:ext cx="851297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06B7E"/>
                </a:solidFill>
                <a:latin typeface="Arimo"/>
                <a:ea typeface="Arimo"/>
                <a:cs typeface="Arimo"/>
                <a:sym typeface="Arimo"/>
              </a:rPr>
              <a:t>Volatility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053646" y="33798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5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3268" y="317322"/>
            <a:ext cx="1723895" cy="1670716"/>
          </a:xfrm>
          <a:custGeom>
            <a:avLst/>
            <a:gdLst/>
            <a:ahLst/>
            <a:cxnLst/>
            <a:rect r="r" b="b" t="t" l="l"/>
            <a:pathLst>
              <a:path h="1670716" w="1723895">
                <a:moveTo>
                  <a:pt x="0" y="0"/>
                </a:moveTo>
                <a:lnTo>
                  <a:pt x="1723895" y="0"/>
                </a:lnTo>
                <a:lnTo>
                  <a:pt x="1723895" y="1670715"/>
                </a:lnTo>
                <a:lnTo>
                  <a:pt x="0" y="16707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87665" y="2212105"/>
            <a:ext cx="9178271" cy="672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66"/>
              </a:lnSpc>
              <a:spcBef>
                <a:spcPct val="0"/>
              </a:spcBef>
            </a:pPr>
            <a:r>
              <a:rPr lang="en-US" sz="4050" strike="noStrike" u="none">
                <a:solidFill>
                  <a:srgbClr val="D30F11"/>
                </a:solidFill>
                <a:latin typeface="Arimo"/>
                <a:ea typeface="Arimo"/>
                <a:cs typeface="Arimo"/>
                <a:sym typeface="Arimo"/>
              </a:rPr>
              <a:t>Replicating the paper: 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87665" y="3803714"/>
            <a:ext cx="7379077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606B7E"/>
                </a:solidFill>
                <a:latin typeface="Arimo"/>
                <a:ea typeface="Arimo"/>
                <a:cs typeface="Arimo"/>
                <a:sym typeface="Arimo"/>
              </a:rPr>
              <a:t>NAME?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912594" y="3992880"/>
            <a:ext cx="176585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606B7E"/>
                </a:solidFill>
                <a:latin typeface="Arimo"/>
                <a:ea typeface="Arimo"/>
                <a:cs typeface="Arimo"/>
                <a:sym typeface="Arimo"/>
              </a:rPr>
              <a:t>†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565817" y="3992880"/>
            <a:ext cx="176585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606B7E"/>
                </a:solidFill>
                <a:latin typeface="Arimo"/>
                <a:ea typeface="Arimo"/>
                <a:cs typeface="Arimo"/>
                <a:sym typeface="Arimo"/>
              </a:rPr>
              <a:t>‡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8869" y="5040630"/>
            <a:ext cx="10988040" cy="849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1"/>
              </a:lnSpc>
            </a:pPr>
            <a:r>
              <a:rPr lang="en-US" sz="1700">
                <a:solidFill>
                  <a:srgbClr val="606B7E"/>
                </a:solidFill>
                <a:latin typeface="Arimo"/>
                <a:ea typeface="Arimo"/>
                <a:cs typeface="Arimo"/>
                <a:sym typeface="Arimo"/>
              </a:rPr>
              <a:t>Department of Information Management and Finance, National Yang Ming Chao Tung University</a:t>
            </a:r>
          </a:p>
          <a:p>
            <a:pPr algn="l">
              <a:lnSpc>
                <a:spcPts val="3451"/>
              </a:lnSpc>
            </a:pPr>
            <a:r>
              <a:rPr lang="en-US" sz="1700">
                <a:solidFill>
                  <a:srgbClr val="606B7E"/>
                </a:solidFill>
                <a:latin typeface="Arimo"/>
                <a:ea typeface="Arimo"/>
                <a:cs typeface="Arimo"/>
                <a:sym typeface="Arimo"/>
              </a:rPr>
              <a:t>Institute of Business and Management, National Yang Ming Chao Tung University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001" y="5104384"/>
            <a:ext cx="120083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sz="1700">
                <a:solidFill>
                  <a:srgbClr val="606B7E"/>
                </a:solidFill>
                <a:latin typeface="Arimo"/>
                <a:ea typeface="Arimo"/>
                <a:cs typeface="Arimo"/>
                <a:sym typeface="Arimo"/>
              </a:rPr>
              <a:t>†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001" y="5522531"/>
            <a:ext cx="120083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sz="1700">
                <a:solidFill>
                  <a:srgbClr val="606B7E"/>
                </a:solidFill>
                <a:latin typeface="Arimo"/>
                <a:ea typeface="Arimo"/>
                <a:cs typeface="Arimo"/>
                <a:sym typeface="Arimo"/>
              </a:rPr>
              <a:t>‡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053646" y="33798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6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DAHROU_9H8o</dc:identifier>
  <dcterms:modified xsi:type="dcterms:W3CDTF">2011-08-01T06:04:30Z</dcterms:modified>
  <cp:revision>1</cp:revision>
  <dc:title>20260920-template-ML&amp;FinTech</dc:title>
</cp:coreProperties>
</file>